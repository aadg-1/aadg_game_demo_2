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2DA4C7-FC44-4CE7-9AA7-53CD8FFC6D1B}" type="datetimeFigureOut">
              <a:rPr lang="bg-BG" smtClean="0"/>
              <a:t>4.10.2026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037D1-77D4-4A06-B68D-0893D237B5F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965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3037D1-77D4-4A06-B68D-0893D237B5F0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71763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microsoft.com/office/2007/relationships/media" Target="../media/media2.m4a"/><Relationship Id="rId7" Type="http://schemas.openxmlformats.org/officeDocument/2006/relationships/image" Target="../media/image16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15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4a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2.m4a"/><Relationship Id="rId7" Type="http://schemas.openxmlformats.org/officeDocument/2006/relationships/image" Target="../media/image1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0.png"/><Relationship Id="rId4" Type="http://schemas.openxmlformats.org/officeDocument/2006/relationships/audio" Target="../media/media2.m4a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EA8F-5AD2-4464-3D8C-70932492B2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solidFill>
                  <a:srgbClr val="92D050"/>
                </a:solidFill>
                <a:latin typeface="Sitka Text" pitchFamily="2" charset="0"/>
                <a:cs typeface="Aharoni" panose="02010803020104030203" pitchFamily="2" charset="-79"/>
              </a:rPr>
              <a:t>Energized</a:t>
            </a:r>
            <a:endParaRPr lang="bg-BG" sz="8000" dirty="0">
              <a:solidFill>
                <a:srgbClr val="92D050"/>
              </a:solidFill>
              <a:latin typeface="Sitka Text" pitchFamily="2" charset="0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B8E38-C22F-B886-DA8A-80B442FD5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1273" y="4028107"/>
            <a:ext cx="9440034" cy="1049867"/>
          </a:xfrm>
        </p:spPr>
        <p:txBody>
          <a:bodyPr/>
          <a:lstStyle/>
          <a:p>
            <a:r>
              <a:rPr lang="bg-BG" dirty="0">
                <a:latin typeface="Sitka Text" pitchFamily="2" charset="0"/>
                <a:ea typeface="Yu Gothic UI Light" panose="020B0300000000000000" pitchFamily="34" charset="-128"/>
              </a:rPr>
              <a:t>Игра от отбор</a:t>
            </a:r>
            <a:r>
              <a:rPr lang="en-US" dirty="0">
                <a:latin typeface="Sitka Text" pitchFamily="2" charset="0"/>
                <a:ea typeface="Yu Gothic UI Light" panose="020B0300000000000000" pitchFamily="34" charset="-128"/>
              </a:rPr>
              <a:t> “AADG”</a:t>
            </a:r>
            <a:endParaRPr lang="bg-BG" dirty="0">
              <a:latin typeface="Sitka Text" pitchFamily="2" charset="0"/>
              <a:ea typeface="Yu Gothic UI Light" panose="020B0300000000000000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14156B-A8DE-DDBF-E9FC-3A91ECACC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688" y="4028107"/>
            <a:ext cx="2152312" cy="28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8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495DD8-B0B2-3306-686C-1044C20D7064}"/>
              </a:ext>
            </a:extLst>
          </p:cNvPr>
          <p:cNvSpPr txBox="1"/>
          <p:nvPr/>
        </p:nvSpPr>
        <p:spPr>
          <a:xfrm>
            <a:off x="3540252" y="502920"/>
            <a:ext cx="511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solidFill>
                  <a:srgbClr val="92D050"/>
                </a:solidFill>
                <a:latin typeface="Sitka Text" pitchFamily="2" charset="0"/>
                <a:ea typeface="Verdana" panose="020B0604030504040204" pitchFamily="34" charset="0"/>
              </a:rPr>
              <a:t>ТЕМАТА И ИДЕЯТА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AABB3-6E28-B614-A08A-B78128A54086}"/>
              </a:ext>
            </a:extLst>
          </p:cNvPr>
          <p:cNvSpPr txBox="1"/>
          <p:nvPr/>
        </p:nvSpPr>
        <p:spPr>
          <a:xfrm>
            <a:off x="806196" y="1797784"/>
            <a:ext cx="27340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Енергията около нас</a:t>
            </a:r>
          </a:p>
          <a:p>
            <a:pPr marL="285750" indent="-28575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Употреба</a:t>
            </a:r>
          </a:p>
          <a:p>
            <a:pPr marL="285750" indent="-28575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Насочване</a:t>
            </a:r>
          </a:p>
          <a:p>
            <a:pPr marL="285750" indent="-28575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Оптимизиране</a:t>
            </a:r>
          </a:p>
          <a:p>
            <a:pPr marL="285750" indent="-28575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Съхраняване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947D8-B07F-673B-E872-CBEC157BFF5C}"/>
              </a:ext>
            </a:extLst>
          </p:cNvPr>
          <p:cNvSpPr txBox="1"/>
          <p:nvPr/>
        </p:nvSpPr>
        <p:spPr>
          <a:xfrm>
            <a:off x="8532876" y="1797784"/>
            <a:ext cx="31638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Енергията на човека</a:t>
            </a:r>
          </a:p>
          <a:p>
            <a:pPr marL="342900" indent="-34290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Трудностите при зависимостта</a:t>
            </a:r>
          </a:p>
          <a:p>
            <a:pPr marL="342900" indent="-34290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Насочването към вътрешния свят</a:t>
            </a:r>
          </a:p>
          <a:p>
            <a:pPr marL="342900" indent="-34290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Оптимизацията в живота ни</a:t>
            </a:r>
          </a:p>
          <a:p>
            <a:pPr marL="342900" indent="-342900">
              <a:buFontTx/>
              <a:buChar char="-"/>
            </a:pPr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Съхранението на духа </a:t>
            </a:r>
            <a:endParaRPr lang="en-US" sz="2000" dirty="0">
              <a:latin typeface="Sitka Text" pitchFamily="2" charset="0"/>
              <a:ea typeface="Yu Gothic UI Light" panose="020B0300000000000000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267CE6-C41C-A743-F887-CCF149DF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6" y="2813447"/>
            <a:ext cx="3492346" cy="354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1706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1F455-E9AF-B02F-3997-9472B62D9F9F}"/>
              </a:ext>
            </a:extLst>
          </p:cNvPr>
          <p:cNvSpPr txBox="1"/>
          <p:nvPr/>
        </p:nvSpPr>
        <p:spPr>
          <a:xfrm>
            <a:off x="3540252" y="502920"/>
            <a:ext cx="511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dirty="0">
                <a:solidFill>
                  <a:srgbClr val="92D050"/>
                </a:solidFill>
                <a:latin typeface="Sitka Text" pitchFamily="2" charset="0"/>
              </a:rPr>
              <a:t>ПРОБЛЕМЪТ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B556B-0D83-4CB3-1CD6-E901933A61C3}"/>
              </a:ext>
            </a:extLst>
          </p:cNvPr>
          <p:cNvSpPr txBox="1"/>
          <p:nvPr/>
        </p:nvSpPr>
        <p:spPr>
          <a:xfrm>
            <a:off x="1789177" y="1953613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Загуба на връзката човек - свят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DE0F0-35B3-2DD0-8080-D6A855B2C76D}"/>
              </a:ext>
            </a:extLst>
          </p:cNvPr>
          <p:cNvSpPr txBox="1"/>
          <p:nvPr/>
        </p:nvSpPr>
        <p:spPr>
          <a:xfrm>
            <a:off x="1789177" y="4656808"/>
            <a:ext cx="273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Борбата за промяна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53DA1-66BB-A458-1391-3E9F7F732B56}"/>
              </a:ext>
            </a:extLst>
          </p:cNvPr>
          <p:cNvSpPr txBox="1"/>
          <p:nvPr/>
        </p:nvSpPr>
        <p:spPr>
          <a:xfrm>
            <a:off x="7411592" y="1953613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Трудностите в живота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CE599-4790-5D49-194A-B6931356A7A1}"/>
              </a:ext>
            </a:extLst>
          </p:cNvPr>
          <p:cNvSpPr txBox="1"/>
          <p:nvPr/>
        </p:nvSpPr>
        <p:spPr>
          <a:xfrm>
            <a:off x="7411592" y="4349032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Посвещаването на едно дело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38944D-99DD-94CC-8F40-4DEFAC8C3149}"/>
              </a:ext>
            </a:extLst>
          </p:cNvPr>
          <p:cNvGrpSpPr/>
          <p:nvPr/>
        </p:nvGrpSpPr>
        <p:grpSpPr>
          <a:xfrm>
            <a:off x="5277874" y="2505075"/>
            <a:ext cx="1636252" cy="1802939"/>
            <a:chOff x="5247835" y="2605989"/>
            <a:chExt cx="1636252" cy="18029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7A2A61-3C31-42D4-09B2-C255F7885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75127" flipV="1">
              <a:off x="4805385" y="3048439"/>
              <a:ext cx="1781175" cy="8962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672780-8725-291A-AD79-F606E17E8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4268876">
              <a:off x="5560112" y="3084953"/>
              <a:ext cx="1781175" cy="866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868422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B88E-661C-9265-1E43-2FCAADE6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9B6861-3F7D-9A28-464E-4961FF0C8772}"/>
              </a:ext>
            </a:extLst>
          </p:cNvPr>
          <p:cNvSpPr txBox="1"/>
          <p:nvPr/>
        </p:nvSpPr>
        <p:spPr>
          <a:xfrm>
            <a:off x="4728972" y="216628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Загуба на връзката човек - свят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8F04A-290F-1E09-B6DE-C7E9C8D7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897124"/>
            <a:ext cx="4255008" cy="10637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76B437-CA31-5CC5-B781-5FD7F03F4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320" y="2897124"/>
            <a:ext cx="3534847" cy="3584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9ACFF1-F007-6716-D10D-3F1357B47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" y="2897124"/>
            <a:ext cx="2714625" cy="3543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7D052D-28E4-3BBC-5BCF-11D3CE44F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161" y="2184116"/>
            <a:ext cx="4683251" cy="46738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5E632B-E1C7-13D1-4AFB-3BAEAD37F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360C24-E133-44A1-4D5C-3D53CA2906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" y="0"/>
            <a:ext cx="12217182" cy="68841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0643A96-2449-12AD-DBB3-777E7E3C4452}"/>
              </a:ext>
            </a:extLst>
          </p:cNvPr>
          <p:cNvSpPr txBox="1"/>
          <p:nvPr/>
        </p:nvSpPr>
        <p:spPr>
          <a:xfrm>
            <a:off x="10888455" y="6255758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Viner Hand ITC" panose="03070502030502020203" pitchFamily="66" charset="0"/>
              </a:rPr>
              <a:t>York [7:7]</a:t>
            </a:r>
            <a:endParaRPr lang="bg-BG" b="1" dirty="0"/>
          </a:p>
        </p:txBody>
      </p:sp>
    </p:spTree>
    <p:extLst>
      <p:ext uri="{BB962C8B-B14F-4D97-AF65-F5344CB8AC3E}">
        <p14:creationId xmlns:p14="http://schemas.microsoft.com/office/powerpoint/2010/main" val="174287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02485-A7E7-42C5-0FCF-0575B4052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91EDD78-B148-EC9A-54A3-8F657EF046BA}"/>
              </a:ext>
            </a:extLst>
          </p:cNvPr>
          <p:cNvSpPr txBox="1"/>
          <p:nvPr/>
        </p:nvSpPr>
        <p:spPr>
          <a:xfrm>
            <a:off x="4728971" y="272951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Трудностите в живота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20AF1-E9FD-E5E5-316E-F0538141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73" y="2503468"/>
            <a:ext cx="5196784" cy="1299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9200A9-1EB9-FE63-F2C3-32D6E7177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45" y="2503468"/>
            <a:ext cx="7087120" cy="1299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B06B72-E976-27B5-B98C-12BA8F428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631" y="4140220"/>
            <a:ext cx="4380737" cy="252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74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8D9A-F1FC-435E-7B76-39210BB1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39B0DB-9974-079D-F78A-9DF2408B82DF}"/>
              </a:ext>
            </a:extLst>
          </p:cNvPr>
          <p:cNvSpPr txBox="1"/>
          <p:nvPr/>
        </p:nvSpPr>
        <p:spPr>
          <a:xfrm>
            <a:off x="4728970" y="493836"/>
            <a:ext cx="273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Борбата за промяна</a:t>
            </a:r>
          </a:p>
        </p:txBody>
      </p:sp>
      <p:pic>
        <p:nvPicPr>
          <p:cNvPr id="2" name="Epilogue (1)">
            <a:hlinkClick r:id="" action="ppaction://media"/>
            <a:extLst>
              <a:ext uri="{FF2B5EF4-FFF2-40B4-BE49-F238E27FC236}">
                <a16:creationId xmlns:a16="http://schemas.microsoft.com/office/drawing/2014/main" id="{567043A3-CA59-D131-E3ED-B74C0B6B893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486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41932" y="627888"/>
            <a:ext cx="6096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4485F-EB91-B297-87F3-D929B9273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37" y="1883819"/>
            <a:ext cx="10448925" cy="1428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CB858-0CCF-1C1D-5887-EBF52D0BD4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786" y="4302442"/>
            <a:ext cx="7210425" cy="447675"/>
          </a:xfrm>
          <a:prstGeom prst="rect">
            <a:avLst/>
          </a:prstGeom>
        </p:spPr>
      </p:pic>
      <p:pic>
        <p:nvPicPr>
          <p:cNvPr id="10" name="Voice 261004_110221">
            <a:hlinkClick r:id="" action="ppaction://media"/>
            <a:extLst>
              <a:ext uri="{FF2B5EF4-FFF2-40B4-BE49-F238E27FC236}">
                <a16:creationId xmlns:a16="http://schemas.microsoft.com/office/drawing/2014/main" id="{4EDC4453-AC02-92A0-04A0-BBB99618466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398" y="35027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765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243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15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8D9A-F1FC-435E-7B76-39210BB1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439B0DB-9974-079D-F78A-9DF2408B82DF}"/>
              </a:ext>
            </a:extLst>
          </p:cNvPr>
          <p:cNvSpPr txBox="1"/>
          <p:nvPr/>
        </p:nvSpPr>
        <p:spPr>
          <a:xfrm>
            <a:off x="4912802" y="504619"/>
            <a:ext cx="27340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Sitka Text" pitchFamily="2" charset="0"/>
                <a:ea typeface="Yu Gothic UI Light" panose="020B0300000000000000" pitchFamily="34" charset="-128"/>
              </a:rPr>
              <a:t>Посвещението на едно дело</a:t>
            </a:r>
          </a:p>
        </p:txBody>
      </p:sp>
      <p:pic>
        <p:nvPicPr>
          <p:cNvPr id="2" name="Epilogue (1)">
            <a:hlinkClick r:id="" action="ppaction://media"/>
            <a:extLst>
              <a:ext uri="{FF2B5EF4-FFF2-40B4-BE49-F238E27FC236}">
                <a16:creationId xmlns:a16="http://schemas.microsoft.com/office/drawing/2014/main" id="{567043A3-CA59-D131-E3ED-B74C0B6B893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486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41932" y="627888"/>
            <a:ext cx="609600" cy="609600"/>
          </a:xfrm>
          <a:prstGeom prst="rect">
            <a:avLst/>
          </a:prstGeom>
        </p:spPr>
      </p:pic>
      <p:pic>
        <p:nvPicPr>
          <p:cNvPr id="10" name="Voice 261004_110221">
            <a:hlinkClick r:id="" action="ppaction://media"/>
            <a:extLst>
              <a:ext uri="{FF2B5EF4-FFF2-40B4-BE49-F238E27FC236}">
                <a16:creationId xmlns:a16="http://schemas.microsoft.com/office/drawing/2014/main" id="{4EDC4453-AC02-92A0-04A0-BBB99618466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486398" y="3502705"/>
            <a:ext cx="609600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658276-3DAF-7421-07A8-0BBC6731D4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037" y="2083689"/>
            <a:ext cx="7781925" cy="1400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0D14B3-4C5E-F230-0DCB-FA939DC284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39" y="4355048"/>
            <a:ext cx="9633583" cy="11193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AE4701-3F14-8BEB-9EBE-B39D7B99C2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92000" y="5628026"/>
            <a:ext cx="1771650" cy="866775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82B6266-C3BF-83AA-DD9F-A24EC64DA7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40015" y="5530014"/>
            <a:ext cx="307296" cy="196025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5752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243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0391 0.00926 L -0.00391 0.00949 C -0.00677 0.00555 -0.00951 0.00115 -0.0125 -0.00186 C -0.01394 -0.00348 -0.01576 -0.00371 -0.01719 -0.00463 C -0.0237 -0.00926 -0.0168 -0.00625 -0.02422 -0.0088 C -0.0267 -0.01135 -0.03034 -0.01551 -0.03282 -0.01713 C -0.03412 -0.01806 -0.03555 -0.01806 -0.03672 -0.01852 C -0.04623 -0.02315 -0.03633 -0.02037 -0.04766 -0.02269 C -0.05469 -0.02223 -0.06185 -0.02269 -0.06875 -0.0213 C -0.06993 -0.0213 -0.0711 -0.02014 -0.07188 -0.01852 C -0.07279 -0.01713 -0.07305 -0.01505 -0.07344 -0.01297 C -0.07435 -0.00996 -0.075 -0.00649 -0.07578 -0.00324 C -0.07956 0.00972 -0.07722 -0.00162 -0.07891 0.00787 C -0.07956 0.00347 -0.08034 -0.00209 -0.08125 -0.00602 C -0.08217 -0.00949 -0.08334 -0.01274 -0.08438 -0.01574 C -0.08542 -0.01829 -0.08633 -0.02084 -0.0875 -0.02269 C -0.08868 -0.02454 -0.09011 -0.02547 -0.09141 -0.02686 C -0.09792 -0.02593 -0.10456 -0.02616 -0.11094 -0.02408 C -0.1125 -0.02385 -0.11355 -0.0213 -0.11485 -0.01991 C -0.12357 -0.01135 -0.1112 -0.025 -0.12188 -0.01158 C -0.12318 -0.01019 -0.12461 -0.00903 -0.12578 -0.00741 C -0.12696 -0.00625 -0.12787 -0.00463 -0.12891 -0.00324 C -0.12969 -0.00232 -0.1306 -0.00186 -0.13125 -0.00047 C -0.13633 0.00833 -0.13073 0.00231 -0.13672 0.00787 C -0.13907 0.00254 -0.14063 -0.00093 -0.14219 -0.00741 C -0.14297 -0.01065 -0.14323 -0.01412 -0.14375 -0.01713 C -0.14427 -0.01922 -0.1444 -0.02176 -0.14532 -0.02269 C -0.14727 -0.02477 -0.15157 -0.02547 -0.15157 -0.02524 C -0.17696 -0.02385 -0.16485 -0.02871 -0.17578 -0.0213 C -0.17787 -0.02014 -0.17891 -0.02014 -0.18047 -0.01713 C -0.18151 -0.01551 -0.1819 -0.0132 -0.18282 -0.01158 C -0.18529 -0.00764 -0.18828 -0.00486 -0.19063 -0.00047 L -0.1961 0.00926 C -0.19714 0.00879 -0.19831 0.00879 -0.19922 0.00787 C -0.20183 0.00509 -0.20352 -0.00024 -0.20625 -0.00186 C -0.20951 -0.00394 -0.20795 -0.00255 -0.21094 -0.00602 C -0.22526 -0.0051 -0.22487 -0.00695 -0.2336 -0.00324 C -0.23477 -0.00301 -0.23581 -0.00255 -0.23672 -0.00186 C -0.2431 0.00185 -0.23842 0.00023 -0.24532 0.0037 C -0.24974 0.00578 -0.25039 0.00509 -0.25547 0.00509 L -0.25547 0.01203 " pathEditMode="relative" rAng="0" ptsTypes="AAAAAAAAAAAAAAAAAAAAAAAAAAAAAAAAAAAAAAAAA"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78" y="-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2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480E5-F528-9340-E46B-87DEE2F6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5A0F-93A0-8618-AF8B-43794A842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514599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bg-BG" sz="8000" dirty="0">
                <a:solidFill>
                  <a:srgbClr val="92D050"/>
                </a:solidFill>
                <a:latin typeface="Sitka Text" pitchFamily="2" charset="0"/>
                <a:cs typeface="Aharoni" panose="02010803020104030203" pitchFamily="2" charset="-79"/>
              </a:rPr>
              <a:t>Благодаря за вниманието!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1AADE9-225B-008B-0E5F-9D4FFD0C5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93299">
            <a:off x="-423862" y="5662612"/>
            <a:ext cx="1781175" cy="866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918774-DEF1-EE0F-3CE7-CE75C9BF7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5991225"/>
            <a:ext cx="17716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0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454</TotalTime>
  <Words>76</Words>
  <Application>Microsoft Office PowerPoint</Application>
  <PresentationFormat>Widescreen</PresentationFormat>
  <Paragraphs>25</Paragraphs>
  <Slides>8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Calisto MT</vt:lpstr>
      <vt:lpstr>Sitka Text</vt:lpstr>
      <vt:lpstr>Viner Hand ITC</vt:lpstr>
      <vt:lpstr>Wingdings 2</vt:lpstr>
      <vt:lpstr>Slate</vt:lpstr>
      <vt:lpstr>Energized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Александър Н. Шаров</dc:creator>
  <cp:lastModifiedBy>Александър Н. Шаров</cp:lastModifiedBy>
  <cp:revision>5</cp:revision>
  <dcterms:created xsi:type="dcterms:W3CDTF">2026-10-03T18:52:40Z</dcterms:created>
  <dcterms:modified xsi:type="dcterms:W3CDTF">2026-10-04T09:15:08Z</dcterms:modified>
</cp:coreProperties>
</file>